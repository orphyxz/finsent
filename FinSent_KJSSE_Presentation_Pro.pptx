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</p:sldIdLst>
  <p:sldSz cy="6858000" cx="12192000"/>
  <p:notesSz cx="6858000" cy="9144000"/>
  <p:embeddedFontLst>
    <p:embeddedFont>
      <p:font typeface="Marcellus"/>
      <p:regular r:id="rId14"/>
    </p:embeddedFont>
    <p:embeddedFont>
      <p:font typeface="Fira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5QH3I460qlIEuZ1J773U9mCAZ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Marcellus-regular.fntdata"/><Relationship Id="rId15" Type="http://schemas.openxmlformats.org/officeDocument/2006/relationships/font" Target="fonts/FiraSans-regular.fntdata"/><Relationship Id="rId16" Type="http://schemas.openxmlformats.org/officeDocument/2006/relationships/font" Target="fonts/FiraSans-bold.fntdata"/><Relationship Id="rId17" Type="http://schemas.openxmlformats.org/officeDocument/2006/relationships/font" Target="fonts/FiraSans-italic.fntdata"/><Relationship Id="rId18" Type="http://schemas.openxmlformats.org/officeDocument/2006/relationships/font" Target="fonts/FiraSans-boldItalic.fntdata"/><Relationship Id="rId19" Type="http://customschemas.google.com/relationships/presentationmetadata" Target="metadata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4912aa8f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14912aa8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ff18e6c2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5ff18e6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ff18e6c2c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5ff18e6c2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Graphical user interface, text, application&#10;&#10;Description automatically generated" id="9" name="Google Shape;9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18520" y="38780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" name="Google Shape;1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3568" y="364390"/>
            <a:ext cx="2004844" cy="58643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FinSent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Provider-Driven Stock Intelligence Dashboard</a:t>
            </a:r>
          </a:p>
          <a:p>
            <a:r>
              <a:t>Saad Waghoo | K. J. Somaiya School of Engineering</a:t>
            </a:r>
          </a:p>
          <a:p>
            <a:r>
              <a:t>Department of Computer Engineering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FinSent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Provider-Driven Stock Intelligence Dashboard</a:t>
            </a:r>
          </a:p>
          <a:p>
            <a:r>
              <a:t>Saad Waghoo | K. J. Somaiya School of Engineering</a:t>
            </a:r>
          </a:p>
          <a:p>
            <a:r>
              <a:t>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1. Problem, motivation, and product thesis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2. Exchange-first architecture and provider strategy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3. Intelligence pipeline, scoring, and data honesty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4. Dashboard walkthrough with real implementation highlights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5. Engineering progress, limitations, and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1. Problem, motivation, and product thesis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2. Exchange-first architecture and provider strategy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3. Intelligence pipeline, scoring, and data honesty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4. Dashboard walkthrough with real implementation highlights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5. Engineering progress, limitations, and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FinSent is a multi-market stock intelligence platform that combines provider-backed quotes, recent ticker-specific news, structured LLM interpretation, and deterministic short-term scoring inside a polished Dash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40280"/>
            <a:ext cx="242316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Markets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3 Exchanges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US, NSE India, and BSE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240280"/>
            <a:ext cx="242316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20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Seeded across tech, finance, energy, and 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40280"/>
            <a:ext cx="242316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Experience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 Pages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Summary, News Impact, Compare, and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240280"/>
            <a:ext cx="182880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Progress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337C56"/>
                </a:solidFill>
                <a:latin typeface="Calibri"/>
              </a:rPr>
              <a:t>~75%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Implementation maturity vs planned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9966960" cy="14173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What makes it strong: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Provider abstraction instead of one-off scripts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Structured Gemini analysis with parse-safe fallback behavior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Runtime badges that show live, stale, inferred, or unavailable states honestly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FinSent is a multi-market stock intelligence platform that combines provider-backed quotes, recent ticker-specific news, structured LLM interpretation, and deterministic short-term scoring inside a polished Dash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40280"/>
            <a:ext cx="242316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Markets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3 Exchanges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US, NSE India, and BSE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240280"/>
            <a:ext cx="242316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20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Seeded across tech, finance, energy, and 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40280"/>
            <a:ext cx="242316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Experience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 Pages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Summary, News Impact, Compare, and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240280"/>
            <a:ext cx="182880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Progress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337C56"/>
                </a:solidFill>
                <a:latin typeface="Calibri"/>
              </a:rPr>
              <a:t>~75%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Implementation maturity vs planned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9966960" cy="14173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What makes it strong: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Provider abstraction instead of one-off scripts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Structured Gemini analysis with parse-safe fallback behavior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Runtime badges that show live, stale, inferred, or unavailable states honestly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Retail traders typically check prices, news, analyst updates, and social commentary across disconnected tools.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Most dashboards either show static historical values or use AI summaries without clear source ownership.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The real challenge is not just sentiment classification; it is combining market context, data freshness, and explainability in one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Retail traders typically check prices, news, analyst updates, and social commentary across disconnected tools.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Most dashboards either show static historical values or use AI summaries without clear source ownership.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The real challenge is not just sentiment classification; it is combining market context, data freshness, and explainability in one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Generic Dashboards Fail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Typical student-demo weaknesses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Hardcoded tickers and CSV-driven values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No distinction between live data and stale data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LLM treated like a data source instead of an analyst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What FinSent does differently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Exchange-first flow with provider routing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Runtime honesty through source, freshness, and quality badges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Deterministic signal engine on top of structured AI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Generic Dashboards Fail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Typical student-demo weaknesses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Hardcoded tickers and CSV-driven values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No distinction between live data and stale data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LLM treated like a data source instead of an analyst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What FinSent does differently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Exchange-first flow with provider routing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Runtime honesty through source, freshness, and quality badges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Deterministic signal engine on top of structured AI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FinSent should feel like a real stock-intelligence workspace, not a notebook demo.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The product should tell the user what the market is doing, what the news is saying, how strong that evidence is, and whether the system trusts its own conclusion.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That is why provider abstraction, data honesty, and explanation quality matter as much as raw sentiment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FinSent should feel like a real stock-intelligence workspace, not a notebook demo.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The product should tell the user what the market is doing, what the news is saying, how strong that evidence is, and whether the system trusts its own conclusion.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That is why provider abstraction, data honesty, and explanation quality matter as much as raw sentiment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Coverage, providers, and runtime trust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Coverage, providers, and runtime trust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current build is exchange-first, with a fixed registry that maps UI tickers to provider symbols cleanly.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3246120" cy="128016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US 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8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AAPL, AMZN, MSFT, NVDA, META, GOOGL, TSLA, JPM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83080"/>
            <a:ext cx="2926080" cy="128016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NSE 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7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RELIANCE, TCS, INFY, HDFCBANK, ICICIBANK, SBIN, ITC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783080"/>
            <a:ext cx="3246120" cy="128016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BSE 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5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RELIANCE, TCS, INFY, HDFCBANK, SBIN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429000"/>
            <a:ext cx="2423160" cy="123444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Quote modes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 states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live, stale, inferred, unavailable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429000"/>
            <a:ext cx="2423160" cy="123444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News tiers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2 levels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provider-grade vs fallback-quality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29000"/>
            <a:ext cx="2423160" cy="123444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Core entities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 stores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quotes, bars, news, signal snapshots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429000"/>
            <a:ext cx="1783080" cy="123444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Pages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summary, impact, compare,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current build is exchange-first, with a fixed registry that maps UI tickers to provider symbols cleanly.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3246120" cy="128016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US 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8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AAPL, AMZN, MSFT, NVDA, META, GOOGL, TSLA, JPM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83080"/>
            <a:ext cx="2926080" cy="128016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NSE 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7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RELIANCE, TCS, INFY, HDFCBANK, ICICIBANK, SBIN, ITC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783080"/>
            <a:ext cx="3246120" cy="128016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BSE Coverage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5 symbols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RELIANCE, TCS, INFY, HDFCBANK, SBIN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429000"/>
            <a:ext cx="2423160" cy="123444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Quote modes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 states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live, stale, inferred, unavailable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429000"/>
            <a:ext cx="2423160" cy="123444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News tiers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2 levels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provider-grade vs fallback-quality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29000"/>
            <a:ext cx="2423160" cy="123444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Core entities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 stores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quotes, bars, news, signal snapshots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429000"/>
            <a:ext cx="1783080" cy="123444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Pages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4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summary, impact, compare,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286000"/>
                <a:gridCol w="2560320"/>
                <a:gridCol w="384048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US path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India path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What the app does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Quote snapshot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Polygon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Kite (planned / credential-gated)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Fetches price, timestamp, freshness, and liquidity context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Historical bars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Polygon aggregates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Kite historical bars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Drives timelines, overlap analysis, and price windows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News ingestion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Polygon News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Marketaux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Normalizes article metadata and relevance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LLM analysis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Returns structured relevance, tone, confidence, impact, catalyst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Fallback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last-trade / prev-close / web news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web news / unavailable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Protects the UX without pretending stale data is live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Modes and Data Honesty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554480"/>
            <a:ext cx="2377440" cy="141732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Mode 1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337C56"/>
                </a:solidFill>
                <a:latin typeface="Calibri"/>
              </a:rPr>
              <a:t>Market + News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Fresh quotes and recent analyzed headlines are both 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554480"/>
            <a:ext cx="2377440" cy="141732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Mode 2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D68430"/>
                </a:solidFill>
                <a:latin typeface="Calibri"/>
              </a:rPr>
              <a:t>Market-only fallback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Quotes or bars are present, but headline support is weak or unavailable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554480"/>
            <a:ext cx="2377440" cy="141732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Mode 3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D68430"/>
                </a:solidFill>
                <a:latin typeface="Calibri"/>
              </a:rPr>
              <a:t>News-only fallback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Headline coverage exists, but usable live market linkage is missing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554480"/>
            <a:ext cx="2103120" cy="141732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Mode 4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A43535"/>
                </a:solidFill>
                <a:latin typeface="Calibri"/>
              </a:rPr>
              <a:t>Unavailable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The app refuses to fake live values when providers 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9966960" cy="14173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05491"/>
                </a:solidFill>
                <a:latin typeface="Calibri"/>
              </a:rPr>
              <a:t>This honesty layer is a major difference between FinSent and a typical student-demo dashboard.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UI surfaces price source, news provider, provider tier, freshness age, and quality badges so the user always knows what is grounded versus inferred.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FinSent is assembled as a real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754880" cy="5029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48840"/>
            <a:ext cx="1554480" cy="91440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User Layer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User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Ticker selection and page navigation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148840"/>
            <a:ext cx="1828800" cy="91440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Frontend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Dash UI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Summary, News Impact, Compare,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2148840"/>
            <a:ext cx="1737360" cy="91440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State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View Model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Loads and normalizes data for figures and 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17320"/>
            <a:ext cx="2057400" cy="160020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Providers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Market + News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Polygon, Marketaux, Kite plan, fallback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246120"/>
            <a:ext cx="2057400" cy="160020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Intelligence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Gemini + Heuristics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Structured interpretation with deterministic signal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2148840"/>
            <a:ext cx="1828800" cy="91440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Persistence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SQLite / SQLAlchemy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Quotes, bars, news, and signal snapshots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606040"/>
            <a:ext cx="228600" cy="0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51960" y="2606040"/>
            <a:ext cx="274320" cy="0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263640" y="2217420"/>
            <a:ext cx="274320" cy="388620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66660" y="3017520"/>
            <a:ext cx="0" cy="228600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595360" y="2606040"/>
            <a:ext cx="320040" cy="1440180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349240"/>
            <a:ext cx="9966960" cy="59436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05491"/>
                </a:solidFill>
                <a:latin typeface="Calibri"/>
              </a:rPr>
              <a:t>Key principle: providers fetch raw data, Gemini interprets the data, and the app owns the final composite 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5029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Runtime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34440"/>
            <a:ext cx="8961120" cy="45720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1. User selects exchange and symbol</a:t>
            </a:r>
          </a:p>
          <a:p>
            <a:pPr algn="l">
              <a:spcAft>
                <a:spcPts val="800"/>
              </a:spcAft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1097280" y="1856232"/>
            <a:ext cx="8961120" cy="45720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2. Symbol registry resolves the provider symbol</a:t>
            </a:r>
          </a:p>
          <a:p>
            <a:pPr algn="l">
              <a:spcAft>
                <a:spcPts val="8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5577840" y="1691640"/>
            <a:ext cx="0" cy="164592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0" y="2478024"/>
            <a:ext cx="8961120" cy="45720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3. Market provider fetches quote snapshot and price bars</a:t>
            </a:r>
          </a:p>
          <a:p>
            <a:pPr algn="l">
              <a:spcAft>
                <a:spcPts val="800"/>
              </a:spcAft>
            </a:pPr>
          </a:p>
        </p:txBody>
      </p:sp>
      <p:cxnSp>
        <p:nvCxnSpPr>
          <p:cNvPr id="7" name="Connector 6"/>
          <p:cNvCxnSpPr/>
          <p:nvPr/>
        </p:nvCxnSpPr>
        <p:spPr>
          <a:xfrm>
            <a:off x="5577840" y="2313432"/>
            <a:ext cx="0" cy="164592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3099816"/>
            <a:ext cx="8961120" cy="45720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4. News provider fetches recent headlines</a:t>
            </a:r>
          </a:p>
          <a:p>
            <a:pPr algn="l">
              <a:spcAft>
                <a:spcPts val="800"/>
              </a:spcAft>
            </a:pPr>
          </a:p>
        </p:txBody>
      </p:sp>
      <p:cxnSp>
        <p:nvCxnSpPr>
          <p:cNvPr id="9" name="Connector 8"/>
          <p:cNvCxnSpPr/>
          <p:nvPr/>
        </p:nvCxnSpPr>
        <p:spPr>
          <a:xfrm>
            <a:off x="5577840" y="2935224"/>
            <a:ext cx="0" cy="164592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3721608"/>
            <a:ext cx="8961120" cy="45720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5. Gemini returns structured JSON or heuristic fallback is used</a:t>
            </a:r>
          </a:p>
          <a:p>
            <a:pPr algn="l">
              <a:spcAft>
                <a:spcPts val="800"/>
              </a:spcAft>
            </a:pPr>
          </a:p>
        </p:txBody>
      </p:sp>
      <p:cxnSp>
        <p:nvCxnSpPr>
          <p:cNvPr id="11" name="Connector 10"/>
          <p:cNvCxnSpPr/>
          <p:nvPr/>
        </p:nvCxnSpPr>
        <p:spPr>
          <a:xfrm>
            <a:off x="5577840" y="3557016"/>
            <a:ext cx="0" cy="164592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4343400"/>
            <a:ext cx="8961120" cy="45720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6. Signal engine computes deterministic composite score</a:t>
            </a:r>
          </a:p>
          <a:p>
            <a:pPr algn="l">
              <a:spcAft>
                <a:spcPts val="800"/>
              </a:spcAft>
            </a:pP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4178808"/>
            <a:ext cx="0" cy="164592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97280" y="4965192"/>
            <a:ext cx="8961120" cy="45720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7. View model renders cards, charts, tables, and alerts</a:t>
            </a:r>
          </a:p>
          <a:p>
            <a:pPr algn="l">
              <a:spcAft>
                <a:spcPts val="800"/>
              </a:spcAft>
            </a:pP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4800600"/>
            <a:ext cx="0" cy="164592"/>
          </a:xfrm>
          <a:prstGeom prst="line">
            <a:avLst/>
          </a:prstGeom>
          <a:ln w="27940">
            <a:solidFill>
              <a:srgbClr val="205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and Data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02412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560320"/>
                <a:gridCol w="5760720"/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Quote snapshots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Latest market state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ticker, exchange, current price, bid/ask, provider, freshness, quality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Price bars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Historical movement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open, high, low, close, volume, interval, market timestamp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Normalized news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Headline evidence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title, source, url, provider, sentiment, confidence, parse status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Signal snapshots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Decision layer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composite score, label, action bias, mode, final reason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Structured article analysis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relevant / not relevant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bullish / bearish / neutral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confidence and impact strength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time horizon and catalyst tag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Reliability controls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JSON parsing validation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Heuristic fallback for quota or parse failures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Cached article hashes to avoid repeat analysis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Quality badge downgraded when AI output is inferred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Signal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Inputs blended by app logic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aggregate news sentiment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article recency and relevance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market pressure and price movement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volume and liquidity context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Outputs visible in the UI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composite score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bullish / neutral / bearish label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signal confidence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plain-language explanation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Experience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the dashboard actually shows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5029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Summary Page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6949440" cy="4800600"/>
          </a:xfrm>
          <a:prstGeom prst="roundRect">
            <a:avLst/>
          </a:prstGeom>
          <a:solidFill>
            <a:srgbClr val="F8FAFD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mmary_showc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6629400" cy="4083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234440"/>
            <a:ext cx="2788920" cy="10972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Top workspace bar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Exchange and ticker selection route the request to the correct provider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624328"/>
            <a:ext cx="2788920" cy="109728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Signal cards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Current price, composite score, confidence, and buy/sell proxy are shown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014216"/>
            <a:ext cx="2788920" cy="10972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Explanation box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The system explains why the current signal looks the way it does in short readable language.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5029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News Impact Page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6949440" cy="4800600"/>
          </a:xfrm>
          <a:prstGeom prst="roundRect">
            <a:avLst/>
          </a:prstGeom>
          <a:solidFill>
            <a:srgbClr val="F8FAFD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ws_showc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6629400" cy="35198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234440"/>
            <a:ext cx="2788920" cy="10972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Impact map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Plots sentiment against estimated impact when direct price overlap is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624328"/>
            <a:ext cx="2788920" cy="109728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Current window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Compresses headline count, confidence, and impact summary.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014216"/>
            <a:ext cx="2788920" cy="10972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Headline table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Shows provider, source, headline, sentiment, confidence, and explanation row by row.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Compare and Alerts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17320"/>
            <a:ext cx="4754880" cy="141732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Compare page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Peer benchmarking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Relative performance, signal leadership, news intensity, and confidence comparison across selected symbols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97880" y="1417320"/>
            <a:ext cx="4754880" cy="141732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Alerts page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Monitoring layer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Recent signal shifts, active alerts, sector mood, and a plain-language Buy / Watch / Avoid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9829800" cy="150876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05491"/>
                </a:solidFill>
                <a:latin typeface="Calibri"/>
              </a:rPr>
              <a:t>These pages make the system feel less like a static analysis sheet and more like an ongoing stock-intelligence workspace.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Even where live India prices are blocked, the UX still explains what is missing instead of quietly degrading into fake values.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 Trust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17320"/>
            <a:ext cx="4572000" cy="96012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Price source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Shows whether the price came from Polygon, Kite, or fallback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417320"/>
            <a:ext cx="4572000" cy="96012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News provider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Surfaces Polygon, Marketaux, or fallback web source directly in the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4572000" cy="96012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Provider tier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Marks provider-grade versus fallback-quality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651760"/>
            <a:ext cx="4572000" cy="96012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Freshness age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Makes staleness visible instead of hiding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86200"/>
            <a:ext cx="4572000" cy="96012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Parse status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Explains when Gemini succeeded, failed, or fell back to heuristics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886200"/>
            <a:ext cx="4572000" cy="96012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Mode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Communicates Market + News, Market-only fallback, News-only fallback, or Unavailable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Quality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the implementation is stronger than a static prototype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Actually Built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5760720"/>
                <a:gridCol w="13716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market_providers.py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Quote snapshots, price bars, provider routing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news_providers.py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Polygon, Marketaux, and fallback news ingestion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llm_analyzers.py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Gemini structured analysis plus heuristic fallback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signal_engine.py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Deterministic composite scoring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intelligence_service.py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Orchestrates provider outputs into stored insights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dashboard/view_model.py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Transforms persistence into cards, charts, and status labels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Engineering Fixes Already Solved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Gemini quota and malformed JSON no longer break the UX; heuristic fallback fills confidence and impact safely.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News Impact tables now show all recent headlines, not just the small subset with direct price overlap.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Failed quote rows no longer override usable older rows during auto-refresh.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Ancient historical closes are blocked from appearing as fake current prices.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Charts can fall back to estimated impact when direct event-linkage is sparse.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Limitations and Mitigations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3657600"/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Effect on product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3F6FB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0D16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India live quote source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NSE/BSE prices remain unavailable without Kite or a replacement provider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Complete Kite setup or replace India quote path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Polygon plan limits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US snapshot quality depends on which endpoints are allowed by the API plan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Use last-trade / previous-close fallback and label it honestly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Gemini quota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Heavy repeated refreshes can force heuristic analysis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Cache article hashes and limit analysis budget per refresh</a:t>
                      </a:r>
                    </a:p>
                  </a:txBody>
                  <a:tcPr>
                    <a:solidFill>
                      <a:srgbClr val="E0EC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Demo stability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Some provider outages can leave the UI sparse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Keep screenshots and runtime-state explanations ready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vs Planned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058400" cy="5029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By schedule the project is in Phase 5, but implementation maturity is already closer to late Phase 6 / early Phase 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3657600" cy="3200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Scheduled timeline completion: 45%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423160"/>
            <a:ext cx="9692640" cy="274320"/>
          </a:xfrm>
          <a:prstGeom prst="rect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23160"/>
            <a:ext cx="4361688" cy="274320"/>
          </a:xfrm>
          <a:prstGeom prst="rect">
            <a:avLst/>
          </a:prstGeom>
          <a:solidFill>
            <a:srgbClr val="205491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3657600" cy="3200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Actual implementation maturity: 75%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49040"/>
            <a:ext cx="9692640" cy="274320"/>
          </a:xfrm>
          <a:prstGeom prst="rect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749040"/>
            <a:ext cx="7269480" cy="274320"/>
          </a:xfrm>
          <a:prstGeom prst="rect">
            <a:avLst/>
          </a:prstGeom>
          <a:solidFill>
            <a:srgbClr val="337C56"/>
          </a:solidFill>
          <a:ln>
            <a:solidFill>
              <a:srgbClr val="3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9784080" cy="9144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05491"/>
                </a:solidFill>
                <a:latin typeface="Calibri"/>
              </a:rPr>
              <a:t>The calendar says ~45% complete; the actual build is around 75% complete because core architecture, multi-page UI, persistence, provider routing, and reliability fixes are already in place.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and Positioning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this is already stronger than a typical academic build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Feels Portfolio-Grade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63040"/>
            <a:ext cx="233172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Architecture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Modular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Providers, LLM analysis, signal engine, persistence, and UI are cleanly separated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331720" cy="132588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LLM role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Constrained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Gemini interprets fetched news instead of inventing unsupported market 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463040"/>
            <a:ext cx="2331720" cy="1325880"/>
          </a:xfrm>
          <a:prstGeom prst="roundRect">
            <a:avLst/>
          </a:prstGeom>
          <a:solidFill>
            <a:srgbClr val="E0ECF8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Scoring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Deterministic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Final bullish / bearish signal is computed in application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463040"/>
            <a:ext cx="2103120" cy="1325880"/>
          </a:xfrm>
          <a:prstGeom prst="roundRect">
            <a:avLst/>
          </a:prstGeom>
          <a:solidFill>
            <a:srgbClr val="EFF3FA"/>
          </a:solidFill>
          <a:ln>
            <a:solidFill>
              <a:srgbClr val="20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UX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205491"/>
                </a:solidFill>
                <a:latin typeface="Calibri"/>
              </a:rPr>
              <a:t>Honest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Live, stale, inferred, and unavailable states are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9966960" cy="16459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This is no longer a static CSV demo.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It behaves like a production-minded intelligence product: provider driven, failure aware, and explicit about uncertainty.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That separation between data ingestion, AI interpretation, and deterministic scoring is the strongest part of the build.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Near-term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Finish India live quote path with Kite or a replacement provider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Capture stable dashboard screenshots for the final viva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Run final end-to-end refresh checks across AAPL, NVDA, and India symbols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76200" rIns="7620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05491"/>
                </a:solidFill>
                <a:latin typeface="Calibri"/>
              </a:rPr>
              <a:t>Longer-term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Move persistence from SQLite to PostgreSQL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Add authentication and background refresh scheduling</a:t>
            </a:r>
          </a:p>
          <a:p>
            <a:pPr lvl="1" algn="l"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Turn the dashboard into a cloud-deployable monitoring product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FinSent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Provider-driven, explainable, and production-minded.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2022-02-21T05:08:08Z</dcterms:created>
  <dc:creator>Pushpendra Kumar Dhansoia</dc:creator>
</cp:coreProperties>
</file>